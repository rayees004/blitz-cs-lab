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82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5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371600" cy="828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 3"/>
          <p:cNvSpPr/>
          <p:nvPr/>
        </p:nvSpPr>
        <p:spPr>
          <a:xfrm>
            <a:off x="2331720" y="713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Digital Marketing &amp; Branding Foundations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A357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257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80360" y="52578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5257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PROGRAM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This Week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core topics across strategy, branding and consumer psychology — building the foundation for every module ahead.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EDF1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Foundations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vs Digital Marketing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Marketing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Ecosystem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Trends &amp; Careers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EDF1F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286000"/>
            <a:ext cx="26974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Funnel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Funnel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vs B2C Marketing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ED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228600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Branding &amp; Positioning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24612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 &amp; Business Types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Brand Positioning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35440" y="22860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EDF1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2286000"/>
            <a:ext cx="26974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946404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Psychology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64040" y="324612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Customer Research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 Basics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Psychology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4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vs Digital Marketing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shift from traditional promotion to data-driven, digital-first engagement.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EDF1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discipline: creating, communicating &amp; delivering value to customers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print, TV, radio, events &amp; word-of-mouth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communication, harder to measure precisely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feedback loop; results seen over weeks/months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560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via digital channels: search, social, email, ads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using data &amp; audience segmentation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Two-way, interactive communication with real-time analytics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loop; campaigns optimized in real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14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Marketing Ecosystem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channels every digital marketer must understand — plus where the industry is heading.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3347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63347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06640" y="228600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5240" y="263347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95935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361188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395935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(PPC)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361188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DF1FA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3959352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&amp; Influencer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INDUSTRY TRENDS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2852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 &amp; automation  •  Short-form video  •  Personalization at scale  •  Voice &amp; visual search  •  Privacy-first targeting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35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A35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Opportunities in Digital Marketing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skill set opens doors across roles, industries and freelance paths.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6837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860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Specialist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9080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10" name="Shape 8"/>
          <p:cNvSpPr/>
          <p:nvPr/>
        </p:nvSpPr>
        <p:spPr>
          <a:xfrm>
            <a:off x="4270248" y="26837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860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80960" y="22860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82128" y="26837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2860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/ Ads Executive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9182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204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69080" y="35204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70248" y="39182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5204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Specialist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80960" y="35204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22" name="Shape 20"/>
          <p:cNvSpPr/>
          <p:nvPr/>
        </p:nvSpPr>
        <p:spPr>
          <a:xfrm>
            <a:off x="7882128" y="39182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5204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Manager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51526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7548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069080" y="475488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28" name="Shape 26"/>
          <p:cNvSpPr/>
          <p:nvPr/>
        </p:nvSpPr>
        <p:spPr>
          <a:xfrm>
            <a:off x="4270248" y="51526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7548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Consultant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680960" y="475488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27318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82128" y="51526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47548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35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Marketing Funnel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moves through four stages before becoming loyal to a brand.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96926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706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discovers the brand via ads, search or social content.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2560" y="3355848"/>
            <a:ext cx="7741920" cy="914400"/>
          </a:xfrm>
          <a:prstGeom prst="roundRect">
            <a:avLst>
              <a:gd name="adj" fmla="val 9000"/>
            </a:avLst>
          </a:prstGeom>
          <a:solidFill>
            <a:srgbClr val="2E3B8C"/>
          </a:solidFill>
          <a:ln/>
        </p:spPr>
      </p:sp>
      <p:sp>
        <p:nvSpPr>
          <p:cNvPr id="11" name="Text 9"/>
          <p:cNvSpPr/>
          <p:nvPr/>
        </p:nvSpPr>
        <p:spPr>
          <a:xfrm>
            <a:off x="1661160" y="335584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01240" y="3447288"/>
            <a:ext cx="664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01240" y="3794760"/>
            <a:ext cx="664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explore products, compare options &amp; engage with content.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7920" y="4379976"/>
            <a:ext cx="5791200" cy="914400"/>
          </a:xfrm>
          <a:prstGeom prst="roundRect">
            <a:avLst>
              <a:gd name="adj" fmla="val 9000"/>
            </a:avLst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2636520" y="437997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76600" y="4471416"/>
            <a:ext cx="469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76600" y="4818888"/>
            <a:ext cx="469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offers &amp; retargeting build intent to purchase.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5404104"/>
            <a:ext cx="3840480" cy="914400"/>
          </a:xfrm>
          <a:prstGeom prst="roundRect">
            <a:avLst>
              <a:gd name="adj" fmla="val 9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5404104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51960" y="5495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58430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happens — followed by retention &amp; advocacy.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4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Customer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path a customer takes — from first contact to becoming a repeat buyer.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90472" y="3017520"/>
            <a:ext cx="8266176" cy="0"/>
          </a:xfrm>
          <a:prstGeom prst="line">
            <a:avLst/>
          </a:prstGeom>
          <a:noFill/>
          <a:ln w="25400">
            <a:solidFill>
              <a:srgbClr val="CBD1E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70432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67512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36976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2734056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26974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48006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70064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7006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6867144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36608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43660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933688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0332720" cy="1737360"/>
          </a:xfrm>
          <a:prstGeom prst="roundRect">
            <a:avLst>
              <a:gd name="adj" fmla="val 5263"/>
            </a:avLst>
          </a:prstGeom>
          <a:solidFill>
            <a:srgbClr val="ED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89120"/>
            <a:ext cx="9692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Consider: Customer becomes aware of a need and researches solutions across search, social &amp; reviews.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Purchase: The decisive moment of conversion — pricing, trust signals &amp; ease of checkout matter most.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 Advocate: Great post-purchase experience turns customers into repeat buyers and brand promoters.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6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Buyer Persona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semi-fictional profile of your ideal customer, built on real data and research.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91840" cy="37490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606040"/>
            <a:ext cx="1371600" cy="1371600"/>
          </a:xfrm>
          <a:prstGeom prst="ellipse">
            <a:avLst/>
          </a:prstGeom>
          <a:solidFill>
            <a:srgbClr val="2E3B8C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606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“Priya, the Planner”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Marketing Executive · Mumbai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Grow her brand online with a limited budget, using data to justify every spend.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377440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4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location, income, role</a:t>
            </a:r>
            <a:endParaRPr lang="en-US" sz="14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4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motivations driving their decisions</a:t>
            </a:r>
            <a:endParaRPr lang="en-US" sz="14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4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challenges they face</a:t>
            </a:r>
            <a:endParaRPr lang="en-US" sz="14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4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channels: where they spend time online</a:t>
            </a:r>
            <a:endParaRPr lang="en-US" sz="14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4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behaviour &amp; objections to purchase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15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vs B2C Marketing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audiences, two very different strategies for reaching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0" y="18288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0332720" cy="713232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&amp; decision-makers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0" y="233172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consumers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0449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cycle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30449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multiple stakeholders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0" y="30449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often emotional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10332720" cy="713232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5818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style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375818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Educational, ROI-focused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375818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Engaging, aspirational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47141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channels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47141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Email, Webinars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447141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Search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6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Channels &amp; Business Types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channel depends heavily on the type of business you're marketing.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EDF1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(SEO)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&amp; Social Ads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Marketing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Influencer Marketing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&amp; Referral Marketing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228600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BUSINESSES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29718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(Business to Business)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(Business to Consumer)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(Direct to Consumer)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(Consumer to Consumer)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Brick-and-mortar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SaaS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14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Strategy &amp; KPIs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without measurable KPIs is just a guess — every plan needs a way to prove it's working.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Audience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Channels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29260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696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292608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KPIs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KPIs TO TRACK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23360" y="45720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0" y="45720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 (CPL)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2578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257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 (CTR)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52578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5257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 (ROAS)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52578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DF1F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5257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(CAC)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40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A35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Branding, Positioning &amp; USP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isn't a logo — it's the perception you create and the promise you keep.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18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identity — name, visuals, tone &amp; values that shape how people perceive you.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1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6517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place your brand occupies in the customer's mind vs. competitors.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1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6517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Selling Proposition — the one clear reason customers should choose you.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3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framework to evaluate a brand's internal strengths and external market position.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advantages: strong brand, loyal customers, unique product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22860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2E3B8C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468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28803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gaps: limited budget, low awareness, weak online presence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potential: new markets, trends, partnerships, platforms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420624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4389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89320" y="48006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risks: competitors, market shifts, changing algorithms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0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Customer Research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strategy starts with understanding the market and the people you're selling 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EDF1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size, growth &amp; trends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strategies &amp; positioning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benchmarks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gaps &amp; opportunities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228600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EDF1FA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29718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&amp; interviews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listening &amp; reviews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behaviour analytics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post-purchase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14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Research Basics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exact words your audience types into search engines.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8" name="Shape 6"/>
          <p:cNvSpPr/>
          <p:nvPr/>
        </p:nvSpPr>
        <p:spPr>
          <a:xfrm>
            <a:off x="1234440" y="2331720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EDF1FA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3317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3317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search a keyword monthly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27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1234440" y="3227832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ED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2278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22783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Informational, navigational, or transactional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23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8" name="Shape 16"/>
          <p:cNvSpPr/>
          <p:nvPr/>
        </p:nvSpPr>
        <p:spPr>
          <a:xfrm>
            <a:off x="1234440" y="4123944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EDF1FA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23944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Difficulty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4123944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it is to rank for that keyword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02005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0200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90" dirty="0"/>
          </a:p>
        </p:txBody>
      </p:sp>
      <p:sp>
        <p:nvSpPr>
          <p:cNvPr id="23" name="Shape 21"/>
          <p:cNvSpPr/>
          <p:nvPr/>
        </p:nvSpPr>
        <p:spPr>
          <a:xfrm>
            <a:off x="1234440" y="5020056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EDF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502005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Keywords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502005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specific phrases with less competition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8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A35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Psychology &amp; Consumer Behaviour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really buy — and the psychological triggers marketers use ethically.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2377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606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&amp; Urgency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377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26060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0956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&amp; Pricing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69080" y="4023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42519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97680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&amp; Trust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4023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73180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9560" y="42519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09560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Storytelling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32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Day-wise Coverage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Week 1's topics are sequenced across the five class days.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0332720" cy="74980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13432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1343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22402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vs Digital Marketing; Ecosystem; Industry Trends; Career Opportunities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63240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29900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Digital Marketing Funnel, Customer Journey &amp; Buyer Persona mapping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10332720" cy="74980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813048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130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373989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vs B2C; Marketing Channels; Types of Businesses; Branding &amp; Positioning; USP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562856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62856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48970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project: SWOT Analysis, Market &amp; Customer Research; Psychology &amp; Consumer Behaviour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239512"/>
            <a:ext cx="10332720" cy="74980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312664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312664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77440" y="523951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Strategy, KPIs &amp; Keyword Research; analyze 5 brands + branding strategy; Q&amp;A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6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DF1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Activities This Week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paired with applied practice, so every concept is put into 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Buyer Personas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87752" y="23774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3250692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5069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2770632" y="356616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Mapping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18304" y="23774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381244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8124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4901184" y="356616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48856" y="23774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7511796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511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7031736" y="356616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79408" y="23774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9642348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64234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9162288" y="356616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 on Live Brands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28" name="Image 0" descr="logo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A357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Assignment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5 brands and prepare a complete branding strategy.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SHOULD INCLUDE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7318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788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overview &amp; target audience for each of the 5 brands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188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7318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4573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 &amp; USP identified for each brand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3858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7318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3126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SWOT analysis per brand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9527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7318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8795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branding strategy recommendation, with reasoning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6446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</a:t>
            </a:r>
            <a:endParaRPr lang="en-US" sz="900" dirty="0"/>
          </a:p>
        </p:txBody>
      </p:sp>
      <p:pic>
        <p:nvPicPr>
          <p:cNvPr id="19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6080760"/>
            <a:ext cx="384048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4" name="Image 0" descr="logo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54480"/>
            <a:ext cx="1554480" cy="9418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complete — see you in Module 2 for Search Engine Optimization.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62179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ACADEMY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1409</Words>
  <Application>Microsoft Office PowerPoint</Application>
  <PresentationFormat>Widescreen</PresentationFormat>
  <Paragraphs>334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rayees004@outlook.com</cp:lastModifiedBy>
  <cp:revision>2</cp:revision>
  <dcterms:created xsi:type="dcterms:W3CDTF">2026-07-25T15:47:20Z</dcterms:created>
  <dcterms:modified xsi:type="dcterms:W3CDTF">2026-07-30T12:00:17Z</dcterms:modified>
</cp:coreProperties>
</file>